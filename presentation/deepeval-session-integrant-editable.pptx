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4"/>
  </p:sldMasterIdLst>
  <p:notesMasterIdLst>
    <p:notesMasterId r:id="rId50"/>
  </p:notesMasterIdLst>
  <p:handoutMasterIdLst>
    <p:handoutMasterId r:id="rId51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B9EC"/>
    <a:srgbClr val="F9831F"/>
    <a:srgbClr val="F5821E"/>
    <a:srgbClr val="51B255"/>
    <a:srgbClr val="58585A"/>
    <a:srgbClr val="6C6C6C"/>
    <a:srgbClr val="F59D21"/>
    <a:srgbClr val="0E8B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89A22D-A801-6A71-F3A0-824605342CEB}" v="2" dt="2025-10-28T14:22:31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56" autoAdjust="0"/>
    <p:restoredTop sz="96144" autoAdjust="0"/>
  </p:normalViewPr>
  <p:slideViewPr>
    <p:cSldViewPr snapToGrid="0">
      <p:cViewPr varScale="1">
        <p:scale>
          <a:sx n="140" d="100"/>
          <a:sy n="140" d="100"/>
        </p:scale>
        <p:origin x="224" y="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1878"/>
    </p:cViewPr>
  </p:sorterViewPr>
  <p:notesViewPr>
    <p:cSldViewPr snapToGrid="0">
      <p:cViewPr varScale="1">
        <p:scale>
          <a:sx n="111" d="100"/>
          <a:sy n="111" d="100"/>
        </p:scale>
        <p:origin x="4800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03FF54-310F-4821-A32D-BC1284A3685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2F332-79C1-45C2-B1F0-DBF243938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6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705CD-46AF-452D-9610-5607E27DD3D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D3DF4-EEE5-45BB-9F7A-E7BC0224F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6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notes:</a:t>
            </a:r>
          </a:p>
          <a:p>
            <a:r>
              <a:rPr dirty="0"/>
              <a:t>- Welcome the team. Set expectations: by the end they will know WHEN to use WHICH metric and WHY.</a:t>
            </a:r>
          </a:p>
          <a:p>
            <a:r>
              <a:rPr dirty="0"/>
              <a:t>- The whole session is grounded in one small repo we can run live.</a:t>
            </a:r>
          </a:p>
          <a:p>
            <a:r>
              <a:rPr dirty="0"/>
              <a:t>- Journey: start treating the agent as a black box (easy, cheap), then open the box (white-box) to inspect how it got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slide up for ~30s. Tell them phases 1-3 mirror the folders in /evals.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motivating slide. Everyone has felt this pain.</a:t>
            </a:r>
          </a:p>
          <a:p>
            <a:r>
              <a:t>Non-determinism sources: sampling/temperature, model updates, tool ordering, paraphrasing.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Bridge: evals are how we replace assert-equals. DeepEval is the framework that gives us the metrics + judge + runner.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punchline of the whole talk lives here. A passing black-box test can hide a wrong tool call or a hallucinated-but-plausible answer. White-box catches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Map each primitive to a line of code we'll see repeatedly. Keep it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the judge is imperfect &amp; noisy; that's why thresholds are tuned per metric and why reasons matter more than the raw number early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agent_plain.py and agent_instrumented.py side by side live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Great starter metric: zero ground truth to author, instant signal. Downside: can't tell you HOW it got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"aha": ToolCorrectness is deterministic &amp; free, and it catches the lucky-guess failure black-box misses.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out: ToolCorrectnessMetric does NOT support ConversationalTestCase — tool quality moves into a ConversationalGEval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Without retrieval_context on the trace, Faithfulness / Contextual metrics literally have nothing to score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Have a terminal ready with .env populated and the local Ollama/judge models pulled. Run #2 and point out ToolCorrectness is deterministic.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56993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10993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46554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04689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5865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41117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88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29460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30212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28947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79352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1897" y="6310866"/>
            <a:ext cx="1064956" cy="321765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>
            <a:off x="712652" y="6258561"/>
            <a:ext cx="107273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 userDrawn="1"/>
        </p:nvSpPr>
        <p:spPr>
          <a:xfrm>
            <a:off x="11065976" y="6257842"/>
            <a:ext cx="374070" cy="374070"/>
          </a:xfrm>
          <a:prstGeom prst="rect">
            <a:avLst/>
          </a:prstGeom>
          <a:solidFill>
            <a:srgbClr val="F983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712652" y="1231970"/>
            <a:ext cx="107273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65976" y="6310145"/>
            <a:ext cx="374070" cy="32176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Segoe UI Semibold" panose="020B0702040204020203" pitchFamily="34" charset="0"/>
              </a:defRPr>
            </a:lvl1pPr>
          </a:lstStyle>
          <a:p>
            <a:pPr algn="ctr"/>
            <a:fld id="{33581D15-6F80-46E9-9551-29B1D9C0E8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8284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1897" y="6310866"/>
            <a:ext cx="1064956" cy="321765"/>
          </a:xfrm>
          <a:prstGeom prst="rect">
            <a:avLst/>
          </a:prstGeom>
        </p:spPr>
      </p:pic>
      <p:cxnSp>
        <p:nvCxnSpPr>
          <p:cNvPr id="26" name="Straight Connector 25"/>
          <p:cNvCxnSpPr/>
          <p:nvPr userDrawn="1"/>
        </p:nvCxnSpPr>
        <p:spPr>
          <a:xfrm>
            <a:off x="712652" y="6258561"/>
            <a:ext cx="107273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>
            <a:off x="712652" y="1231970"/>
            <a:ext cx="107273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24"/>
          <p:cNvSpPr>
            <a:spLocks noGrp="1" noChangeAspect="1"/>
          </p:cNvSpPr>
          <p:nvPr>
            <p:ph type="pic" sz="quarter" idx="14"/>
          </p:nvPr>
        </p:nvSpPr>
        <p:spPr>
          <a:xfrm>
            <a:off x="1856097" y="1912763"/>
            <a:ext cx="1097137" cy="10971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Roboto Light"/>
                <a:cs typeface="Roboto Light"/>
              </a:defRPr>
            </a:lvl1pPr>
          </a:lstStyle>
          <a:p>
            <a:endParaRPr lang="id-ID" dirty="0"/>
          </a:p>
        </p:txBody>
      </p:sp>
      <p:sp>
        <p:nvSpPr>
          <p:cNvPr id="8" name="Picture Placeholder 24"/>
          <p:cNvSpPr>
            <a:spLocks noGrp="1" noChangeAspect="1"/>
          </p:cNvSpPr>
          <p:nvPr>
            <p:ph type="pic" sz="quarter" idx="15"/>
          </p:nvPr>
        </p:nvSpPr>
        <p:spPr>
          <a:xfrm>
            <a:off x="5527780" y="1912762"/>
            <a:ext cx="1097137" cy="10971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Roboto Light"/>
                <a:cs typeface="Roboto Light"/>
              </a:defRPr>
            </a:lvl1pPr>
          </a:lstStyle>
          <a:p>
            <a:endParaRPr lang="id-ID" dirty="0"/>
          </a:p>
        </p:txBody>
      </p:sp>
      <p:sp>
        <p:nvSpPr>
          <p:cNvPr id="9" name="Picture Placeholder 24"/>
          <p:cNvSpPr>
            <a:spLocks noGrp="1" noChangeAspect="1"/>
          </p:cNvSpPr>
          <p:nvPr>
            <p:ph type="pic" sz="quarter" idx="16"/>
          </p:nvPr>
        </p:nvSpPr>
        <p:spPr>
          <a:xfrm>
            <a:off x="9199463" y="1881068"/>
            <a:ext cx="1097137" cy="10971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Roboto Light"/>
                <a:cs typeface="Roboto Light"/>
              </a:defRPr>
            </a:lvl1pPr>
          </a:lstStyle>
          <a:p>
            <a:endParaRPr lang="id-ID" dirty="0"/>
          </a:p>
        </p:txBody>
      </p:sp>
      <p:sp>
        <p:nvSpPr>
          <p:cNvPr id="10" name="Picture Placeholder 24"/>
          <p:cNvSpPr>
            <a:spLocks noGrp="1" noChangeAspect="1"/>
          </p:cNvSpPr>
          <p:nvPr>
            <p:ph type="pic" sz="quarter" idx="17"/>
          </p:nvPr>
        </p:nvSpPr>
        <p:spPr>
          <a:xfrm>
            <a:off x="1856097" y="4069815"/>
            <a:ext cx="1097137" cy="10971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Roboto Light"/>
                <a:cs typeface="Roboto Light"/>
              </a:defRPr>
            </a:lvl1pPr>
          </a:lstStyle>
          <a:p>
            <a:endParaRPr lang="id-ID" dirty="0"/>
          </a:p>
        </p:txBody>
      </p:sp>
      <p:sp>
        <p:nvSpPr>
          <p:cNvPr id="12" name="Picture Placeholder 24"/>
          <p:cNvSpPr>
            <a:spLocks noGrp="1" noChangeAspect="1"/>
          </p:cNvSpPr>
          <p:nvPr>
            <p:ph type="pic" sz="quarter" idx="19"/>
          </p:nvPr>
        </p:nvSpPr>
        <p:spPr>
          <a:xfrm>
            <a:off x="5527780" y="4047560"/>
            <a:ext cx="1097137" cy="10971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Roboto Light"/>
                <a:cs typeface="Roboto Light"/>
              </a:defRPr>
            </a:lvl1pPr>
          </a:lstStyle>
          <a:p>
            <a:endParaRPr lang="id-ID" dirty="0"/>
          </a:p>
        </p:txBody>
      </p:sp>
      <p:sp>
        <p:nvSpPr>
          <p:cNvPr id="14" name="Picture Placeholder 24"/>
          <p:cNvSpPr>
            <a:spLocks noGrp="1" noChangeAspect="1"/>
          </p:cNvSpPr>
          <p:nvPr>
            <p:ph type="pic" sz="quarter" idx="21"/>
          </p:nvPr>
        </p:nvSpPr>
        <p:spPr>
          <a:xfrm>
            <a:off x="9199463" y="4055924"/>
            <a:ext cx="1097137" cy="10971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Roboto Light"/>
                <a:cs typeface="Roboto Light"/>
              </a:defRPr>
            </a:lvl1pPr>
          </a:lstStyle>
          <a:p>
            <a:endParaRPr lang="id-ID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4B5CAE-6575-0E42-8940-57C2BD2351BB}"/>
              </a:ext>
            </a:extLst>
          </p:cNvPr>
          <p:cNvSpPr/>
          <p:nvPr userDrawn="1"/>
        </p:nvSpPr>
        <p:spPr>
          <a:xfrm>
            <a:off x="11065976" y="6257842"/>
            <a:ext cx="374070" cy="374070"/>
          </a:xfrm>
          <a:prstGeom prst="rect">
            <a:avLst/>
          </a:prstGeom>
          <a:solidFill>
            <a:srgbClr val="F983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10B9A43-6304-3E42-A313-40BA181A9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5976" y="6310145"/>
            <a:ext cx="374070" cy="32176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Segoe UI Semibold" panose="020B0702040204020203" pitchFamily="34" charset="0"/>
              </a:defRPr>
            </a:lvl1pPr>
          </a:lstStyle>
          <a:p>
            <a:pPr algn="ctr"/>
            <a:fld id="{33581D15-6F80-46E9-9551-29B1D9C0E8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846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1897" y="6310866"/>
            <a:ext cx="1064956" cy="321765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>
            <a:off x="712652" y="6258561"/>
            <a:ext cx="107273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5D648BD-2637-8041-8473-7C756BEECE52}"/>
              </a:ext>
            </a:extLst>
          </p:cNvPr>
          <p:cNvSpPr/>
          <p:nvPr userDrawn="1"/>
        </p:nvSpPr>
        <p:spPr>
          <a:xfrm>
            <a:off x="11065976" y="6257842"/>
            <a:ext cx="374070" cy="374070"/>
          </a:xfrm>
          <a:prstGeom prst="rect">
            <a:avLst/>
          </a:prstGeom>
          <a:solidFill>
            <a:srgbClr val="F983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4C27BC2-049F-B147-A028-6793C48E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5976" y="6310145"/>
            <a:ext cx="374070" cy="32176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Segoe UI Semibold" panose="020B0702040204020203" pitchFamily="34" charset="0"/>
              </a:defRPr>
            </a:lvl1pPr>
          </a:lstStyle>
          <a:p>
            <a:pPr algn="ctr"/>
            <a:fld id="{33581D15-6F80-46E9-9551-29B1D9C0E8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17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7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64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1234440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94560"/>
            <a:ext cx="10360152" cy="2377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 i="0" dirty="0">
                <a:solidFill>
                  <a:srgbClr val="20B9EC"/>
                </a:solidFill>
                <a:latin typeface="Sofia Pro Medium"/>
              </a:rPr>
              <a:t>Testing AI Agents with </a:t>
            </a:r>
            <a:r>
              <a:rPr sz="4000" b="1" i="0" dirty="0" err="1">
                <a:solidFill>
                  <a:srgbClr val="20B9EC"/>
                </a:solidFill>
                <a:latin typeface="Sofia Pro Medium"/>
              </a:rPr>
              <a:t>DeepEval</a:t>
            </a:r>
            <a:endParaRPr sz="4000" b="1" i="0" dirty="0">
              <a:solidFill>
                <a:srgbClr val="20B9EC"/>
              </a:solidFill>
              <a:latin typeface="Sofia Pro Medium"/>
            </a:endParaRPr>
          </a:p>
          <a:p>
            <a:pPr algn="ctr">
              <a:spcAft>
                <a:spcPts val="1000"/>
              </a:spcAft>
            </a:pPr>
            <a:r>
              <a:rPr sz="2000" b="0" i="0" dirty="0">
                <a:solidFill>
                  <a:srgbClr val="6E7781"/>
                </a:solidFill>
                <a:latin typeface="Sofia Pro Medium"/>
              </a:rPr>
              <a:t>From Black-Box to White-Box</a:t>
            </a:r>
          </a:p>
          <a:p>
            <a:pPr algn="ctr">
              <a:spcAft>
                <a:spcPts val="1000"/>
              </a:spcAft>
            </a:pPr>
            <a:r>
              <a:rPr sz="1600" b="0" i="0" dirty="0">
                <a:solidFill>
                  <a:srgbClr val="ED7D31"/>
                </a:solidFill>
                <a:latin typeface="Roboto"/>
              </a:rPr>
              <a:t>Standard Agents → Chatbots → RAG Agents</a:t>
            </a:r>
          </a:p>
          <a:p>
            <a:pPr algn="ctr">
              <a:spcAft>
                <a:spcPts val="1000"/>
              </a:spcAft>
            </a:pPr>
            <a:r>
              <a:rPr sz="1600" b="0" i="0" dirty="0">
                <a:solidFill>
                  <a:srgbClr val="6E7781"/>
                </a:solidFill>
                <a:latin typeface="Roboto"/>
              </a:rPr>
              <a:t>
</a:t>
            </a:r>
          </a:p>
          <a:p>
            <a:pPr algn="ctr">
              <a:spcAft>
                <a:spcPts val="1000"/>
              </a:spcAft>
            </a:pPr>
            <a:r>
              <a:rPr sz="1600" b="0" i="0" dirty="0">
                <a:solidFill>
                  <a:srgbClr val="6E7781"/>
                </a:solidFill>
                <a:latin typeface="Roboto"/>
              </a:rPr>
              <a:t>A practical, code-first walkthrough of the </a:t>
            </a:r>
            <a:r>
              <a:rPr sz="1600" b="0" i="0" dirty="0" err="1">
                <a:solidFill>
                  <a:srgbClr val="1398C4"/>
                </a:solidFill>
                <a:latin typeface="Consolas"/>
              </a:rPr>
              <a:t>deepeval</a:t>
            </a:r>
            <a:r>
              <a:rPr sz="1600" b="0" i="0" dirty="0">
                <a:solidFill>
                  <a:srgbClr val="1398C4"/>
                </a:solidFill>
                <a:latin typeface="Consolas"/>
              </a:rPr>
              <a:t>-agent-demo</a:t>
            </a:r>
            <a:r>
              <a:rPr sz="1600" b="0" i="0" dirty="0">
                <a:solidFill>
                  <a:srgbClr val="6E7781"/>
                </a:solidFill>
                <a:latin typeface="Roboto"/>
              </a:rPr>
              <a:t>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22494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 i="0">
                <a:solidFill>
                  <a:srgbClr val="ED7D31"/>
                </a:solidFill>
                <a:latin typeface="Roboto"/>
              </a:rPr>
              <a:t>Why AI needs a different kind of testing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the determinism problem</a:t>
            </a:r>
          </a:p>
          <a:p>
            <a:pPr>
              <a:spcAft>
                <a:spcPts val="300"/>
              </a:spcAft>
            </a:pPr>
            <a:r>
              <a:rPr sz="1500" b="1" i="0">
                <a:solidFill>
                  <a:srgbClr val="ED7D31"/>
                </a:solidFill>
                <a:latin typeface="Roboto"/>
              </a:rPr>
              <a:t>The core mental model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Black-box vs White-box</a:t>
            </a:r>
          </a:p>
          <a:p>
            <a:pPr>
              <a:spcAft>
                <a:spcPts val="300"/>
              </a:spcAft>
            </a:pPr>
            <a:r>
              <a:rPr sz="1500" b="1" i="0">
                <a:solidFill>
                  <a:srgbClr val="ED7D31"/>
                </a:solidFill>
                <a:latin typeface="Roboto"/>
              </a:rPr>
              <a:t>DeepEval in 5 primitives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Golden, Metric, Judge LLM, Threshold, Trace</a:t>
            </a:r>
          </a:p>
          <a:p>
            <a:pPr>
              <a:spcAft>
                <a:spcPts val="300"/>
              </a:spcAft>
            </a:pPr>
            <a:r>
              <a:rPr sz="1500" b="1" i="0">
                <a:solidFill>
                  <a:srgbClr val="ED7D31"/>
                </a:solidFill>
                <a:latin typeface="Roboto"/>
              </a:rPr>
              <a:t>Phase 1 — Standard Agent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(black-box → white-box)</a:t>
            </a:r>
          </a:p>
          <a:p>
            <a:pPr>
              <a:spcAft>
                <a:spcPts val="300"/>
              </a:spcAft>
            </a:pPr>
            <a:r>
              <a:rPr sz="1500" b="1" i="0">
                <a:solidFill>
                  <a:srgbClr val="ED7D31"/>
                </a:solidFill>
                <a:latin typeface="Roboto"/>
              </a:rPr>
              <a:t>Phase 2 — Chatbot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(multi-turn evaluation)</a:t>
            </a:r>
          </a:p>
          <a:p>
            <a:pPr>
              <a:spcAft>
                <a:spcPts val="300"/>
              </a:spcAft>
            </a:pPr>
            <a:r>
              <a:rPr sz="1500" b="1" i="0">
                <a:solidFill>
                  <a:srgbClr val="ED7D31"/>
                </a:solidFill>
                <a:latin typeface="Roboto"/>
              </a:rPr>
              <a:t>Phase 3 — RAG Agent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(retrieval-aware evaluation)</a:t>
            </a:r>
          </a:p>
          <a:p>
            <a:pPr>
              <a:spcAft>
                <a:spcPts val="300"/>
              </a:spcAft>
            </a:pPr>
            <a:r>
              <a:rPr sz="1500" b="1" i="0">
                <a:solidFill>
                  <a:srgbClr val="ED7D31"/>
                </a:solidFill>
                <a:latin typeface="Roboto"/>
              </a:rPr>
              <a:t>Cross-cutting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synthetic data, safety, CI, cost</a:t>
            </a:r>
          </a:p>
          <a:p>
            <a:pPr>
              <a:spcAft>
                <a:spcPts val="300"/>
              </a:spcAft>
            </a:pPr>
            <a:r>
              <a:rPr sz="1500" b="1" i="0">
                <a:solidFill>
                  <a:srgbClr val="ED7D31"/>
                </a:solidFill>
                <a:latin typeface="Roboto"/>
              </a:rPr>
              <a:t>Live demo +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1234440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94560"/>
            <a:ext cx="10360152" cy="2377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 i="0">
                <a:solidFill>
                  <a:srgbClr val="20B9EC"/>
                </a:solidFill>
                <a:latin typeface="Sofia Pro Medium"/>
              </a:rPr>
              <a:t>Part 1</a:t>
            </a:r>
          </a:p>
          <a:p>
            <a:pPr algn="ctr">
              <a:spcAft>
                <a:spcPts val="1000"/>
              </a:spcAft>
            </a:pPr>
            <a:r>
              <a:rPr sz="2600" b="1" i="0">
                <a:solidFill>
                  <a:srgbClr val="44546A"/>
                </a:solidFill>
                <a:latin typeface="Sofia Pro Medium"/>
              </a:rPr>
              <a:t>Why AI Needs a Different Kind of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Traditional testing assumes determinism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# Traditional software — same input, same output, forever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assert add(2, 2) == 4          # ✅ reliable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assert slugify("Hi There") == "hi-there"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468880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Now try it on an agent: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871216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# Same question, different valid wording every run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assert agent("Where is order ORD-1042?") ==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"Order ORD-1042 is Shipped. ETA: 2026-05-13."   # ❌ brittle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858768"/>
            <a:ext cx="10515600" cy="71323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/>
            <a:r>
              <a:rPr sz="1500" b="0" i="0">
                <a:solidFill>
                  <a:srgbClr val="44546A"/>
                </a:solidFill>
                <a:latin typeface="Roboto"/>
              </a:rPr>
              <a:t>The agent might say </a:t>
            </a:r>
            <a:r>
              <a:rPr sz="1500" b="0" i="1">
                <a:solidFill>
                  <a:srgbClr val="6E7781"/>
                </a:solidFill>
                <a:latin typeface="Roboto"/>
              </a:rPr>
              <a:t>"Your order has shipped and arrives May 13th"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 —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correct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, but </a:t>
            </a:r>
            <a:r>
              <a:rPr sz="1500" b="0" i="0">
                <a:solidFill>
                  <a:srgbClr val="44546A"/>
                </a:solidFill>
                <a:latin typeface="Consolas"/>
              </a:rPr>
              <a:t>==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 says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FAIL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858768"/>
            <a:ext cx="54864" cy="71323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The string-match 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These are all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bad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ways to test an LLM: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83664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assert "Shipped" in response          # passes on "Not shipped yet"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assert response.startswith("Order")   # breaks on a polite preamble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assert len(response) &lt; 200            # tests nothing about correctness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71216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What we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actually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want to ask is about </a:t>
            </a:r>
            <a:r>
              <a:rPr sz="1500" b="0" i="1">
                <a:solidFill>
                  <a:srgbClr val="6E7781"/>
                </a:solidFill>
                <a:latin typeface="Roboto"/>
              </a:rPr>
              <a:t>meaning and behavior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273552"/>
            <a:ext cx="10515600" cy="8778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Did it give the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right information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? (semantic correctness)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Did it use the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right tool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? (behavior)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Was it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relevant / grounded / safe / efficient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245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1" i="0">
                <a:solidFill>
                  <a:srgbClr val="ED7D31"/>
                </a:solidFill>
                <a:latin typeface="Roboto"/>
              </a:rPr>
              <a:t>None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of these are answerable with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==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. They need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judgment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From "pass/fail" to "scored"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481328"/>
          <a:ext cx="10515600" cy="1874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Traditional Testing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AI Evals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Binary: pass or fail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Scored: 0.0 → 1.0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Exact match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Semantic judgment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Deterministic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Probabilistic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"Is the output correct?"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"</a:t>
                      </a:r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How good</a:t>
                      </a:r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 is the output?"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3429000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An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eval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measures one quality dimension on a scale, then you set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831336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1" i="0">
                <a:solidFill>
                  <a:srgbClr val="ED7D31"/>
                </a:solidFill>
                <a:latin typeface="Roboto"/>
              </a:rPr>
              <a:t>threshold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= </a:t>
            </a:r>
            <a:r>
              <a:rPr sz="1500" b="0" i="1">
                <a:solidFill>
                  <a:srgbClr val="6E7781"/>
                </a:solidFill>
                <a:latin typeface="Roboto"/>
              </a:rPr>
              <a:t>your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definition of "good enough."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1234440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94560"/>
            <a:ext cx="10360152" cy="2377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 i="0">
                <a:solidFill>
                  <a:srgbClr val="20B9EC"/>
                </a:solidFill>
                <a:latin typeface="Sofia Pro Medium"/>
              </a:rPr>
              <a:t>Part 2</a:t>
            </a:r>
          </a:p>
          <a:p>
            <a:pPr algn="ctr">
              <a:spcAft>
                <a:spcPts val="1000"/>
              </a:spcAft>
            </a:pPr>
            <a:r>
              <a:rPr sz="2600" b="1" i="0">
                <a:solidFill>
                  <a:srgbClr val="44546A"/>
                </a:solidFill>
                <a:latin typeface="Sofia Pro Medium"/>
              </a:rPr>
              <a:t>The Core Mental Model</a:t>
            </a:r>
          </a:p>
          <a:p>
            <a:pPr algn="ctr">
              <a:spcAft>
                <a:spcPts val="1000"/>
              </a:spcAft>
            </a:pPr>
            <a:r>
              <a:rPr sz="2000" b="0" i="0">
                <a:solidFill>
                  <a:srgbClr val="6E7781"/>
                </a:solidFill>
                <a:latin typeface="Sofia Pro Medium"/>
              </a:rPr>
              <a:t>Black-Box vs White-Box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Two ways to look at an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883664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An agent run produces a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trace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the full sequence of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2688336"/>
            <a:ext cx="10515600" cy="210312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USER INPUT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▼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[ LLM reasons ] → [ calls get_order_status("ORD-1042") 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│                       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│               [ tool returns "Shipped, ETA 2026-05-13" 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▼                       ▼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[ LLM writes final answer ] ──► FINAL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864608"/>
            <a:ext cx="10515600" cy="8778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Black-box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look at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input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and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final output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only.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White-box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open the trace: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which tools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how many steps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what was retrieved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memory across turns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Black-box vs White-box — the trade-off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481328"/>
          <a:ext cx="10515600" cy="2240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Black-box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White-box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Sees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input + final output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the whole trace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Answers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6E7781"/>
                          </a:solidFill>
                          <a:latin typeface="Roboto"/>
                        </a:rPr>
                        <a:t>"Is the answer good?"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>
                          <a:solidFill>
                            <a:srgbClr val="6E7781"/>
                          </a:solidFill>
                          <a:latin typeface="Roboto"/>
                        </a:rPr>
                        <a:t>"Did it get there correctly?"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Needs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nothing extra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instrumentation (tracing)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Examples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TaskCompletion, AnswerRelevancy, Correctness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ToolCorrectness, StepEfficiency, Faithfulness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Cost to set up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low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a few lines of tracing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" y="3794760"/>
            <a:ext cx="10515600" cy="71323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/>
            <a:r>
              <a:rPr sz="1500" b="1" i="0">
                <a:solidFill>
                  <a:srgbClr val="ED7D31"/>
                </a:solidFill>
                <a:latin typeface="Roboto"/>
              </a:rPr>
              <a:t>Teaching order: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 start black-box (cheap, fast feedback), then open the box when "the answer looks right but something is off."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794760"/>
            <a:ext cx="54864" cy="71323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Why you need both — the classic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A refund question where the agent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guesses correctly without checking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83664"/>
            <a:ext cx="10515600" cy="6035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Black-box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AnswerRelevancy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PASS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(answer sounds right)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White-box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ToolCorrectness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FAIL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(never called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get_refund_policy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60320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The agent got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lucky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not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correct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. In production the guess breaks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62656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the moment the policy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364992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**→ Black-box tells you the output is plausible.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673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White-box tells you it's trustworthy.**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1234440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11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94560"/>
            <a:ext cx="10360152" cy="2377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 i="0">
                <a:solidFill>
                  <a:srgbClr val="20B9EC"/>
                </a:solidFill>
                <a:latin typeface="Sofia Pro Medium"/>
              </a:rPr>
              <a:t>Part 3</a:t>
            </a:r>
          </a:p>
          <a:p>
            <a:pPr algn="ctr">
              <a:spcAft>
                <a:spcPts val="1000"/>
              </a:spcAft>
            </a:pPr>
            <a:r>
              <a:rPr sz="2600" b="1" i="0">
                <a:solidFill>
                  <a:srgbClr val="44546A"/>
                </a:solidFill>
                <a:latin typeface="Sofia Pro Medium"/>
              </a:rPr>
              <a:t>DeepEval in 5 Primitives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12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The 5 primitives you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14264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 i="0">
                <a:solidFill>
                  <a:srgbClr val="ED7D31"/>
                </a:solidFill>
                <a:latin typeface="Roboto"/>
              </a:rPr>
              <a:t>Golden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one test scenario (input + optional expected values)</a:t>
            </a:r>
          </a:p>
          <a:p>
            <a:pPr>
              <a:spcAft>
                <a:spcPts val="300"/>
              </a:spcAft>
            </a:pPr>
            <a:r>
              <a:rPr sz="1500" b="1" i="0">
                <a:solidFill>
                  <a:srgbClr val="ED7D31"/>
                </a:solidFill>
                <a:latin typeface="Roboto"/>
              </a:rPr>
              <a:t>Metric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one quality dimension, scores 0.0–1.0 vs a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threshold</a:t>
            </a:r>
          </a:p>
          <a:p>
            <a:pPr>
              <a:spcAft>
                <a:spcPts val="300"/>
              </a:spcAft>
            </a:pPr>
            <a:r>
              <a:rPr sz="1500" b="1" i="0">
                <a:solidFill>
                  <a:srgbClr val="ED7D31"/>
                </a:solidFill>
                <a:latin typeface="Roboto"/>
              </a:rPr>
              <a:t>Judge LLM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a </a:t>
            </a:r>
            <a:r>
              <a:rPr sz="1500" b="0" i="1">
                <a:solidFill>
                  <a:srgbClr val="6E7781"/>
                </a:solidFill>
                <a:latin typeface="Roboto"/>
              </a:rPr>
              <a:t>second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LLM that reads the trace and scores it</a:t>
            </a:r>
          </a:p>
          <a:p>
            <a:pPr>
              <a:spcAft>
                <a:spcPts val="300"/>
              </a:spcAft>
            </a:pPr>
            <a:r>
              <a:rPr sz="1500" b="1" i="0">
                <a:solidFill>
                  <a:srgbClr val="ED7D31"/>
                </a:solidFill>
                <a:latin typeface="Roboto"/>
              </a:rPr>
              <a:t>Trace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what the agent actually did (captured by instrumentation)</a:t>
            </a:r>
          </a:p>
          <a:p>
            <a:pPr>
              <a:spcAft>
                <a:spcPts val="300"/>
              </a:spcAft>
            </a:pPr>
            <a:r>
              <a:rPr sz="1500" b="1" i="0">
                <a:solidFill>
                  <a:srgbClr val="ED7D31"/>
                </a:solidFill>
                <a:latin typeface="Roboto"/>
              </a:rPr>
              <a:t>Runner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evaluate()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or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dataset.evals_iterator()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980944"/>
            <a:ext cx="10515600" cy="676656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Golden(input="Where is my order ORD-1042?",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expected_tools=[ToolCall(name="get_order_status")])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13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Deterministic vs LLM-judged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1" i="0">
                <a:solidFill>
                  <a:srgbClr val="ED7D31"/>
                </a:solidFill>
                <a:latin typeface="Roboto"/>
              </a:rPr>
              <a:t>Deterministic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pure logic, no LLM, free &amp; instant: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83664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ToolCorrectnessMetric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set comparison of expected vs actual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1" i="0">
                <a:solidFill>
                  <a:srgbClr val="ED7D31"/>
                </a:solidFill>
                <a:latin typeface="Roboto"/>
              </a:rPr>
              <a:t>LLM-judged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a judge LLM reads and scores (needs semantic understanding):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88336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TaskCompletion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AnswerRelevancy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Faithfulness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GEval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safety…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090672"/>
            <a:ext cx="10515600" cy="71323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/>
            <a:r>
              <a:rPr sz="1500" b="0" i="0">
                <a:solidFill>
                  <a:srgbClr val="44546A"/>
                </a:solidFill>
                <a:latin typeface="Roboto"/>
              </a:rPr>
              <a:t>Prefer deterministic when the question is black &amp; white (tool names). Use a judge when the question needs </a:t>
            </a:r>
            <a:r>
              <a:rPr sz="1500" b="0" i="1">
                <a:solidFill>
                  <a:srgbClr val="6E7781"/>
                </a:solidFill>
                <a:latin typeface="Roboto"/>
              </a:rPr>
              <a:t>reading comprehension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090672"/>
            <a:ext cx="54864" cy="71323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14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The Judge LLM — grading the first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10515600" cy="1152144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      ┌───────────────────────────────┐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trace ───► │  Judge LLM (separate model)   │ ──► score 0.0–1.0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golden ──► │  reads input, output, context │     + reason text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      └───────────────────────────────┘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06624"/>
            <a:ext cx="10515600" cy="14264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We use a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cross-vendor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setup: the judge is a </a:t>
            </a:r>
            <a:r>
              <a:rPr sz="1500" b="0" i="1">
                <a:solidFill>
                  <a:srgbClr val="6E7781"/>
                </a:solidFill>
                <a:latin typeface="Roboto"/>
              </a:rPr>
              <a:t>different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model than the agent → avoids an LLM grading itself favorably.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In this repo the judge is pinned in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llm_models.py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(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GPT_OSS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/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GPT-4o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/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QWEN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), swappable in one place.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The judge returns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a score _and_ a reason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the reason is gold for debugging.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15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Instrumentation = 4 lines (</a:t>
            </a:r>
            <a:r>
              <a:rPr sz="2800" b="1" i="0">
                <a:solidFill>
                  <a:srgbClr val="1398C4"/>
                </a:solidFill>
                <a:latin typeface="Consolas"/>
              </a:rPr>
              <a:t>agent_plain</a:t>
            </a:r>
            <a:r>
              <a:rPr sz="2800" b="1" i="0">
                <a:solidFill>
                  <a:srgbClr val="20B9EC"/>
                </a:solidFill>
                <a:latin typeface="Sofia Pro Medium"/>
              </a:rPr>
              <a:t> → </a:t>
            </a:r>
            <a:r>
              <a:rPr sz="2800" b="1" i="0">
                <a:solidFill>
                  <a:srgbClr val="1398C4"/>
                </a:solidFill>
                <a:latin typeface="Consolas"/>
              </a:rPr>
              <a:t>agent_instrumented</a:t>
            </a:r>
            <a:r>
              <a:rPr sz="2800" b="1" i="0">
                <a:solidFill>
                  <a:srgbClr val="20B9EC"/>
                </a:solidFill>
                <a:latin typeface="Sofia Pro Medium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10515600" cy="2340864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# (1) import the tracer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from deepeval.integrations.langchain import CallbackHandler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# (2) build it once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deepeval_callback = CallbackHandler()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# (3) pass it on every invoke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agent.ainvoke(payload, config={"callbacks": [deepeval_callback]})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# (4) wrap the entry point so DeepEval owns the top-level trace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@observe(name="support_agent")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def support_agent(user_input):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895344"/>
            <a:ext cx="10515600" cy="71323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/>
            <a:r>
              <a:rPr sz="1500" b="0" i="0">
                <a:solidFill>
                  <a:srgbClr val="44546A"/>
                </a:solidFill>
                <a:latin typeface="Roboto"/>
              </a:rPr>
              <a:t>That tiny diff is the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entire ask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 QA makes of dev. Everything else about the agent stays identical. This is what makes white-box cheap.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895344"/>
            <a:ext cx="54864" cy="71323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16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How </a:t>
            </a:r>
            <a:r>
              <a:rPr sz="2800" b="1" i="0">
                <a:solidFill>
                  <a:srgbClr val="1398C4"/>
                </a:solidFill>
                <a:latin typeface="Consolas"/>
              </a:rPr>
              <a:t>update_current_trace</a:t>
            </a:r>
            <a:r>
              <a:rPr sz="2800" b="1" i="0">
                <a:solidFill>
                  <a:srgbClr val="20B9EC"/>
                </a:solidFill>
                <a:latin typeface="Sofia Pro Medium"/>
              </a:rPr>
              <a:t> feeds the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DeepEval reads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expected_output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expected_tools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83664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1398C4"/>
                </a:solidFill>
                <a:latin typeface="Consolas"/>
              </a:rPr>
              <a:t>retrieval_context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from the trace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not from the Golden directly: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286000"/>
            <a:ext cx="10515600" cy="210312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@observe(name="support_agent")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def support_agent(user_input):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golden = get_current_golden()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if golden.expected_tools: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 update_current_trace(expected_tools=golden.expected_tools)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if golden.expected_output: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 update_current_trace(expected_output=golden.expected_output)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return _support_agent(user_input)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462272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This bridge is why white-box metrics can "see" the expected values. Pattern repeats in every phase.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1234440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17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94560"/>
            <a:ext cx="10360152" cy="2377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 i="0">
                <a:solidFill>
                  <a:srgbClr val="20B9EC"/>
                </a:solidFill>
                <a:latin typeface="Sofia Pro Medium"/>
              </a:rPr>
              <a:t>Phase 1 — Standard Agent</a:t>
            </a:r>
          </a:p>
          <a:p>
            <a:pPr algn="ctr">
              <a:spcAft>
                <a:spcPts val="1000"/>
              </a:spcAft>
            </a:pPr>
            <a:r>
              <a:rPr sz="2600" b="1" i="0">
                <a:solidFill>
                  <a:srgbClr val="1398C4"/>
                </a:solidFill>
                <a:latin typeface="Consolas"/>
              </a:rPr>
              <a:t>agent_instrumented.py</a:t>
            </a:r>
            <a:r>
              <a:rPr sz="2600" b="1" i="0">
                <a:solidFill>
                  <a:srgbClr val="44546A"/>
                </a:solidFill>
                <a:latin typeface="Sofia Pro Medium"/>
              </a:rPr>
              <a:t> + </a:t>
            </a:r>
            <a:r>
              <a:rPr sz="2600" b="1" i="0">
                <a:solidFill>
                  <a:srgbClr val="1398C4"/>
                </a:solidFill>
                <a:latin typeface="Consolas"/>
              </a:rPr>
              <a:t>evals/standard_agent/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18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The agent under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14264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LangChain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create_agent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two local tools + one MCP tool:</a:t>
            </a:r>
          </a:p>
          <a:p>
            <a:pPr lvl="1"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   •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get_order_status(order_id)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in-memory order DB</a:t>
            </a:r>
          </a:p>
          <a:p>
            <a:pPr lvl="1"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   •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get_refund_policy(category)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refund rules</a:t>
            </a:r>
          </a:p>
          <a:p>
            <a:pPr lvl="1"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   •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shopease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tool loaded from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mcp_server.py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over stdio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System prompt: </a:t>
            </a:r>
            <a:r>
              <a:rPr sz="1500" b="0" i="1">
                <a:solidFill>
                  <a:srgbClr val="6E7781"/>
                </a:solidFill>
                <a:latin typeface="Roboto"/>
              </a:rPr>
              <a:t>"friendly customer-support agent… keep replies short."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980944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agent = create_agent(model=llm,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tools=[get_order_status, get_refund_policy] + _mcp_tools,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system_prompt="You are a friendly customer-support agent...")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968496"/>
            <a:ext cx="10515600" cy="43891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/>
            <a:r>
              <a:rPr sz="1500" b="0" i="0">
                <a:solidFill>
                  <a:srgbClr val="44546A"/>
                </a:solidFill>
                <a:latin typeface="Roboto"/>
              </a:rPr>
              <a:t>Same agent evaluated two ways next: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black-box first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, then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white-box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968496"/>
            <a:ext cx="54864" cy="4389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19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1A · Black-box — Task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The simplest possible eval: input + final output, nothing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83664"/>
            <a:ext cx="10515600" cy="1389888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actual = support_agent("Where is my order ORD-1042?")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test_case = LLMTestCase(input="Where is my order ORD-1042?",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                 actual_output=actual)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evaluate(test_cases=[test_case],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  metrics=[TaskCompletionMetric(threshold=0.7, model=GPT_OSS)])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346704"/>
            <a:ext cx="10515600" cy="8778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Question answered: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</a:t>
            </a:r>
            <a:r>
              <a:rPr sz="1500" b="0" i="1">
                <a:solidFill>
                  <a:srgbClr val="6E7781"/>
                </a:solidFill>
                <a:latin typeface="Roboto"/>
              </a:rPr>
              <a:t>did the agent accomplish the user's goal?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No expected output needed — the judge infers the goal from the input.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file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standard_agent/test_TaskCompletion.py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20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1B · Black-box — Relevancy, Prompt Alignment,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Input-only goldens, three complementary judges: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83664"/>
            <a:ext cx="10515600" cy="1152144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AnswerRelevancyMetric(threshold=0.7)    # is the reply on-topic?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PromptAlignmentMetric(                  # did it follow the system prompt?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prompt_instructions=["...keep replies short and helpful"])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StepEfficiencyMetric(threshold=0.5)     # did it waste steps?  (peeks at trace)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108960"/>
            <a:ext cx="10515600" cy="8778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AnswerRelevancy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+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PromptAlignment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=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black-box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(output vs intent/prompt).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StepEfficiency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already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leans white-box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— it counts trace steps.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file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standard_agent/test_multipleEvalsTest.py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21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1C · Black-box with ground truth — Correctness (GEval)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When you </a:t>
            </a:r>
            <a:r>
              <a:rPr sz="1500" b="0" i="1">
                <a:solidFill>
                  <a:srgbClr val="6E7781"/>
                </a:solidFill>
                <a:latin typeface="Roboto"/>
              </a:rPr>
              <a:t>do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have an expected answer, define a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custom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criterion: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83664"/>
            <a:ext cx="10515600" cy="1865376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correctness = GEval(name="Correctness",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criteria="Does the actual output convey the same factual info as the 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    "expected output? Minor wording OK; wrong/missing facts are not.",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evaluation_params=[INPUT, EXPECTED_OUTPUT, ACTUAL_OUTPUT], threshold=0.80)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Golden(input="Where is my order ORD-1042?",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expected_output="order ORD-1042 is shipped and will arrive by May 13th 2026")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822192"/>
            <a:ext cx="10515600" cy="8778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GEval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= write your own rubric in plain English → judge applies it.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This is the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non-RAG equivalent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of expected-output testing.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file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standard_agent/test_customMetricEvals.py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22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1D · White-box — open the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Now attach expected values to the trace and inspect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behavior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83664"/>
            <a:ext cx="10515600" cy="1865376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TaskCompletionMetric(threshold=0.7)   # did it finish the task?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ToolCorrectnessMetric()               # did it call the RIGHT tool?  (deterministic)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Golden(input="Where is my order ORD-1042?",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expected_tools=[ToolCall(name="get_order_status")])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Golden(input="What is refund policy for electronics?",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expected_tools=[ToolCall(name="get_refund_policy")])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822192"/>
            <a:ext cx="10515600" cy="6035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ToolCorrectness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can only work because the trace is captured.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file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standard_agent/test_TracingComponentsTest.py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23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Phase 1 — metric cheat-sheet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481328"/>
          <a:ext cx="10515600" cy="26060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Metric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Box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Judge?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Needs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TaskCompletion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⬛ black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LLM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input + output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AnswerRelevancy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⬛ black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LLM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input + output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PromptAlignment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⬛ black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LLM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output + prompt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GEval (Correctness)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⬛ black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LLM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expected_output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StepEfficiency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◻ white-ish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LLM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trace (steps)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ToolCorrectness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◻ </a:t>
                      </a:r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white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❌ rule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expected_tools</a:t>
                      </a:r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 + trace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" y="4160520"/>
            <a:ext cx="10515600" cy="43891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/>
            <a:r>
              <a:rPr sz="1500" b="0" i="0">
                <a:solidFill>
                  <a:srgbClr val="44546A"/>
                </a:solidFill>
                <a:latin typeface="Roboto"/>
              </a:rPr>
              <a:t>Start top-to-bottom: cheap black-box signal first, open the box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160520"/>
            <a:ext cx="54864" cy="4389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1234440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24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94560"/>
            <a:ext cx="10360152" cy="2377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 i="0">
                <a:solidFill>
                  <a:srgbClr val="20B9EC"/>
                </a:solidFill>
                <a:latin typeface="Sofia Pro Medium"/>
              </a:rPr>
              <a:t>Phase 2 — Chatbot</a:t>
            </a:r>
          </a:p>
          <a:p>
            <a:pPr algn="ctr">
              <a:spcAft>
                <a:spcPts val="1000"/>
              </a:spcAft>
            </a:pPr>
            <a:r>
              <a:rPr sz="2600" b="1" i="0">
                <a:solidFill>
                  <a:srgbClr val="1398C4"/>
                </a:solidFill>
                <a:latin typeface="Consolas"/>
              </a:rPr>
              <a:t>chatbot.py</a:t>
            </a:r>
            <a:r>
              <a:rPr sz="2600" b="1" i="0">
                <a:solidFill>
                  <a:srgbClr val="44546A"/>
                </a:solidFill>
                <a:latin typeface="Sofia Pro Medium"/>
              </a:rPr>
              <a:t> + </a:t>
            </a:r>
            <a:r>
              <a:rPr sz="2600" b="1" i="0">
                <a:solidFill>
                  <a:srgbClr val="1398C4"/>
                </a:solidFill>
                <a:latin typeface="Consolas"/>
              </a:rPr>
              <a:t>evals/chatbot_agent/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25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What's different about a chatbot?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11521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Multi-turn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: quality depends on the </a:t>
            </a:r>
            <a:r>
              <a:rPr sz="1500" b="0" i="1">
                <a:solidFill>
                  <a:srgbClr val="6E7781"/>
                </a:solidFill>
                <a:latin typeface="Roboto"/>
              </a:rPr>
              <a:t>whole conversation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not one reply.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chatbot.py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runs the tool-call loop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manually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(raw OpenAI API) so the full history — tool calls + results — is preserved across turns.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Evaluation uses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ConversationalTestCase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+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Turn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not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Golden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706624"/>
            <a:ext cx="10515600" cy="1389888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turns = []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for user_msg in [...]: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reply, history, _ = chat(user_msg, history)   # live conversation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turns.append(Turn(role="user", content=user_msg))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turns.append(Turn(role="assistant", content=reply))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26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The test conversation (designed to probe memory)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10515600" cy="1152144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"Hi! I placed an order last week, the order ID is ORD-1042."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"Is it going to arrive on time?"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"What was the ETA you just mentioned?"   # ← tests memory retention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"Can I upgrade to express shipping?"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06624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Each turn stresses a different quality: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108960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information capture → tool use →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recall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topical follow-through.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27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2A · Black-box — per-turn &amp; whole-conversation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TurnRelevancyMetric(threshold=0.5)            # each reply fits the turn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ConversationCompletenessMetric(threshold=0.5) # was the goal met overall?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evaluate(test_cases=[ConversationalTestCase(turns=turns)], metrics=[...])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468880"/>
            <a:ext cx="10515600" cy="8778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TurnRelevancy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is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each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assistant turn relevant in context?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ConversationCompleteness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did the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whole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chat satisfy the user?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file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chatbot_agent/test_chatbot.py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28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2B · White-box — memory &amp; tool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10515600" cy="438912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KnowledgeRetentionMetric(threshold=0.5)   # does it remember earlier facts?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93392"/>
            <a:ext cx="10515600" cy="6035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KnowledgeRetention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catches the model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forgetting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the ETA / order ID it was told two turns ago — a pure multi-turn, inside-the-conversation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7004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Tool quality (can't use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ToolCorrectness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here) →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custom conversational judge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072384"/>
            <a:ext cx="10515600" cy="1152144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ConversationalGEval(name="Correctness",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criteria="Did the chatbot fully resolve the issue? It should use tools 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    "when needed and give accurate answers.",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evaluation_params=[MultiTurnParams.ROLE, MultiTurnParams.CONTENT])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97680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file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chatbot_agent/test_chatbot_customMetric.py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29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Phase 2 — metric cheat-sheet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481328"/>
          <a:ext cx="10515600" cy="1874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Metric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Box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Scope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TurnRelevancy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⬛ black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per turn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ConversationCompleteness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⬛ black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whole chat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KnowledgeRetention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◻ </a:t>
                      </a:r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white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memory across turns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ConversationalGEval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◻ white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custom (role+content / tools)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" y="3429000"/>
            <a:ext cx="10515600" cy="43891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/>
            <a:r>
              <a:rPr sz="1500" b="0" i="0">
                <a:solidFill>
                  <a:srgbClr val="44546A"/>
                </a:solidFill>
                <a:latin typeface="Roboto"/>
              </a:rPr>
              <a:t>Multi-turn adds a new white-box axis black-box can't touch: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memory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429000"/>
            <a:ext cx="54864" cy="4389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1234440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30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94560"/>
            <a:ext cx="10360152" cy="2377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 i="0">
                <a:solidFill>
                  <a:srgbClr val="20B9EC"/>
                </a:solidFill>
                <a:latin typeface="Sofia Pro Medium"/>
              </a:rPr>
              <a:t>Phase 3 — RAG Agent</a:t>
            </a:r>
          </a:p>
          <a:p>
            <a:pPr algn="ctr">
              <a:spcAft>
                <a:spcPts val="1000"/>
              </a:spcAft>
            </a:pPr>
            <a:r>
              <a:rPr sz="2600" b="1" i="0">
                <a:solidFill>
                  <a:srgbClr val="1398C4"/>
                </a:solidFill>
                <a:latin typeface="Consolas"/>
              </a:rPr>
              <a:t>rag_agent.py</a:t>
            </a:r>
            <a:r>
              <a:rPr sz="2600" b="1" i="0">
                <a:solidFill>
                  <a:srgbClr val="44546A"/>
                </a:solidFill>
                <a:latin typeface="Sofia Pro Medium"/>
              </a:rPr>
              <a:t> + </a:t>
            </a:r>
            <a:r>
              <a:rPr sz="2600" b="1" i="0">
                <a:solidFill>
                  <a:srgbClr val="1398C4"/>
                </a:solidFill>
                <a:latin typeface="Consolas"/>
              </a:rPr>
              <a:t>evals/rag_agent/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31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The RAG agent under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8778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Knowledge base: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9 policy documents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embeddings →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InMemoryVectorStore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One tool: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search_policies(query)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top-3 semantic chunks.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Key move: retrieved chunks are pushed into the trace as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retrieval_context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32304"/>
            <a:ext cx="10515600" cy="1152144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docs = vector_store.similarity_search(query, k=3)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_last_retrieved = [d.page_content for d in docs]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...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update_current_trace(output=reply, retrieval_context=_last_retrieved)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657600"/>
            <a:ext cx="10515600" cy="43891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/>
            <a:r>
              <a:rPr sz="1500" b="0" i="0">
                <a:solidFill>
                  <a:srgbClr val="44546A"/>
                </a:solidFill>
                <a:latin typeface="Consolas"/>
              </a:rPr>
              <a:t>retrieval_context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 is what unlocks the RAG-specific white-box metrics.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657600"/>
            <a:ext cx="54864" cy="4389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32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RAG has two failure modes — test both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10515600" cy="1627632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     RETRIEVAL                 GENERATION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query ─► [ search ] ─► chunks ─► [ LLM writes answer 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       │                          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Did we fetch the             Did the answer stick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RIGHT context?               to that context?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(Precision / Recall)            (Faithfulness)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182112"/>
            <a:ext cx="10515600" cy="6035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Retrieval bug: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right answer impossible — wrong/missing chunks.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Generation bug: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good chunks, but the LLM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hallucinates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anyway.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33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3A · Black-box — Answer Relevancy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Still the cheapest signal — just input + output: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83664"/>
            <a:ext cx="10515600" cy="438912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AnswerRelevancyMetric(threshold=0.7)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Tells you the reply is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on-topic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but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not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whether it's grounded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98064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your documents. A fluent hallucination passes this. → open the box.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34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3B · White-box — Faithfulness &amp; Contextual Precision/Recall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10515600" cy="1627632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Golden(input="What is the return policy for electronics?",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   expected_output="Electronics can be returned within 15 days...")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FaithfulnessMetric(threshold=0.7)          # answer grounded in chunks?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ContextualPrecisionMetric(threshold=0.7)   # are retrieved chunks relevant?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ContextualRecallMetric(threshold=0.7)      # did we retrieve ALL needed info?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182112"/>
            <a:ext cx="10515600" cy="11521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Faithfulness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hallucination detector (answer vs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retrieval_context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).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Precision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signal-to-noise of the retrieved chunks.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Recall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did retrieval miss anything the expected answer needs?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file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rag_agent/test_rag_agent.py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35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Phase 3 — metric cheat-sheet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481328"/>
          <a:ext cx="10515600" cy="1874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Metric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Box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Targets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AnswerRelevancy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⬛ black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on-topic reply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Faithfulness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◻ </a:t>
                      </a:r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white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grounding / hallucination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ContextualPrecision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◻ </a:t>
                      </a:r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white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retrieval noise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ContextualRecall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◻ </a:t>
                      </a:r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white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retrieval coverage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" y="3429000"/>
            <a:ext cx="10515600" cy="71323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/>
            <a:r>
              <a:rPr sz="1500" b="0" i="0">
                <a:solidFill>
                  <a:srgbClr val="44546A"/>
                </a:solidFill>
                <a:latin typeface="Roboto"/>
              </a:rPr>
              <a:t>RAG is where white-box earns its keep: black-box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cannot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 see the difference between "recalled" and "invented."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429000"/>
            <a:ext cx="54864" cy="71323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1234440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36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94560"/>
            <a:ext cx="10360152" cy="2377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 i="0">
                <a:solidFill>
                  <a:srgbClr val="20B9EC"/>
                </a:solidFill>
                <a:latin typeface="Sofia Pro Medium"/>
              </a:rPr>
              <a:t>Part 4</a:t>
            </a:r>
          </a:p>
          <a:p>
            <a:pPr algn="ctr">
              <a:spcAft>
                <a:spcPts val="1000"/>
              </a:spcAft>
            </a:pPr>
            <a:r>
              <a:rPr sz="2600" b="1" i="0">
                <a:solidFill>
                  <a:srgbClr val="44546A"/>
                </a:solidFill>
                <a:latin typeface="Sofia Pro Medium"/>
              </a:rPr>
              <a:t>Cross-Cutting Concerns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37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Synthetic goldens — stop hand-writing test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Generate goldens straight from your source docs: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83664"/>
            <a:ext cx="10515600" cy="1152144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synthesizer = Synthesizer(model=local_judge)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goldens = synthesizer.generate_goldens_from_docs(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document_paths=["policies.txt"], include_expected_output=True,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   max_goldens_per_context=2, context_construction_config=...)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108960"/>
            <a:ext cx="10515600" cy="8778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Produces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input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+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expected_output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pairs automatically.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Scales coverage without a human authoring every case.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file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rag_agent/test_agent_synthesized.py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38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Safety evals — guardrails as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24292F"/>
                </a:solidFill>
                <a:latin typeface="Roboto"/>
              </a:rPr>
              <a:t>Run the same agent against adversarial inputs: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83664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BiasMetric(threshold=0.8)        # demographic framing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ToxicityMetric(threshold=0.8)    # hostile / angry customer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PIILeakageMetric(threshold=0.8)  # does it leak SSNs etc.?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71216"/>
            <a:ext cx="10515600" cy="8778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Input-only goldens targeting edge cases.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Treat these as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release gates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, not nice-to-haves.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Pairs naturally with synthetic data for breadth.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39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Thresholds are design decisions, not rules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481328"/>
          <a:ext cx="10515600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Metric family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Typical threshold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Why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Quality (TaskCompletion, Relevancy, GEval)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0.7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high bar, some slack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Efficiency (StepEfficiency)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0.5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agents rarely optimal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Safety (Bias, Toxicity, PII)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0.5 → raise in prod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noisy but critical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" y="3063240"/>
            <a:ext cx="10515600" cy="43891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/>
            <a:r>
              <a:rPr sz="1500" b="0" i="0">
                <a:solidFill>
                  <a:srgbClr val="44546A"/>
                </a:solidFill>
                <a:latin typeface="Roboto"/>
              </a:rPr>
              <a:t>Tune per metric. Early on,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trust the reason text more than the number.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063240"/>
            <a:ext cx="54864" cy="4389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40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Practical notes for your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19751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One source of truth for models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llm_models.py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(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StrEnum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). Swap judge/agent/embeddings in one place.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Cross-vendor judging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avoids self-grading bias.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Cost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: LLM-judged metrics cost tokens per run → use deterministic (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ToolCorrectness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) where you can; batch with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AsyncConfig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CI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: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evaluate()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/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evals_iterator()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run under pytest → gate PRs.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0B9EC"/>
                </a:solidFill>
                <a:latin typeface="Roboto"/>
              </a:rPr>
              <a:t>•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Confident AI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: add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CONFIDENT_API_KEY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to </a:t>
            </a:r>
            <a:r>
              <a:rPr sz="1500" b="0" i="0">
                <a:solidFill>
                  <a:srgbClr val="1398C4"/>
                </a:solidFill>
                <a:latin typeface="Consolas"/>
              </a:rPr>
              <a:t>.env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traces in a UI, zero code change.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1234440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41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94560"/>
            <a:ext cx="10360152" cy="2377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 i="0">
                <a:solidFill>
                  <a:srgbClr val="20B9EC"/>
                </a:solidFill>
                <a:latin typeface="Sofia Pro Medium"/>
              </a:rPr>
              <a:t>Part 5</a:t>
            </a:r>
          </a:p>
          <a:p>
            <a:pPr algn="ctr">
              <a:spcAft>
                <a:spcPts val="1000"/>
              </a:spcAft>
            </a:pPr>
            <a:r>
              <a:rPr sz="2600" b="1" i="0">
                <a:solidFill>
                  <a:srgbClr val="44546A"/>
                </a:solidFill>
                <a:latin typeface="Sofia Pro Medium"/>
              </a:rPr>
              <a:t>Live Demo + Takeaways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42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Live demo script (≈ 10 min)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10515600" cy="3529584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54864" bIns="54864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# 0. sanity — the agent runs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python agent_instrumented.py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# 1. black-box first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python -m evals.standard_agent.test_TaskCompletion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# 2. open the box — tool correctness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python -m evals.standard_agent.test_TracingComponentsTest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# 3. multi-turn memory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python -m evals.chatbot_agent.test_chatbot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# 4. RAG grounding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1F2328"/>
                </a:solidFill>
                <a:latin typeface="Consolas"/>
              </a:rPr>
              <a:t>python -m evals.rag_agent.test_rag_agent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084064"/>
            <a:ext cx="10515600" cy="43891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/>
            <a:r>
              <a:rPr sz="1500" b="0" i="0">
                <a:solidFill>
                  <a:srgbClr val="44546A"/>
                </a:solidFill>
                <a:latin typeface="Roboto"/>
              </a:rPr>
              <a:t>Pause on each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reason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 string — that's where the learning happens.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084064"/>
            <a:ext cx="54864" cy="4389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43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The one-slide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481328"/>
          <a:ext cx="10515600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Phase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Black-box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White-box (open the trace)</a:t>
                      </a:r>
                    </a:p>
                  </a:txBody>
                  <a:tcPr marL="73152" marR="54864" marT="18288" marB="18288" anchor="ctr">
                    <a:solidFill>
                      <a:srgbClr val="20B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Standard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TaskCompletion, AnswerRelevancy, GEval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ToolCorrectness</a:t>
                      </a:r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, StepEfficiency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Chatbot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TurnRelevancy, Completeness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KnowledgeRetention</a:t>
                      </a:r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, ConvGEval</a:t>
                      </a:r>
                    </a:p>
                  </a:txBody>
                  <a:tcPr marL="73152" marR="54864" marT="18288" marB="18288" anchor="ctr">
                    <a:solidFill>
                      <a:srgbClr val="F3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RAG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AnswerRelevancy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D7D31"/>
                          </a:solidFill>
                          <a:latin typeface="Roboto"/>
                        </a:rPr>
                        <a:t>Faithfulness</a:t>
                      </a:r>
                      <a:r>
                        <a:rPr sz="1200" b="0" i="0">
                          <a:solidFill>
                            <a:srgbClr val="24292F"/>
                          </a:solidFill>
                          <a:latin typeface="Roboto"/>
                        </a:rPr>
                        <a:t>, Ctx Precision/Recall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" y="3063240"/>
            <a:ext cx="10515600" cy="713232"/>
          </a:xfrm>
          <a:prstGeom prst="rect">
            <a:avLst/>
          </a:prstGeom>
          <a:solidFill>
            <a:srgbClr val="FD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/>
            <a:r>
              <a:rPr sz="1500" b="0" i="0">
                <a:solidFill>
                  <a:srgbClr val="44546A"/>
                </a:solidFill>
                <a:latin typeface="Roboto"/>
              </a:rPr>
              <a:t>Black-box = </a:t>
            </a:r>
            <a:r>
              <a:rPr sz="1500" b="0" i="1">
                <a:solidFill>
                  <a:srgbClr val="6E7781"/>
                </a:solidFill>
                <a:latin typeface="Roboto"/>
              </a:rPr>
              <a:t>is the answer good?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  →  cheap, start here. White-box = </a:t>
            </a:r>
            <a:r>
              <a:rPr sz="1500" b="0" i="1">
                <a:solidFill>
                  <a:srgbClr val="6E7781"/>
                </a:solidFill>
                <a:latin typeface="Roboto"/>
              </a:rPr>
              <a:t>did it get there correctly?</a:t>
            </a:r>
            <a:r>
              <a:rPr sz="1500" b="0" i="0">
                <a:solidFill>
                  <a:srgbClr val="44546A"/>
                </a:solidFill>
                <a:latin typeface="Roboto"/>
              </a:rPr>
              <a:t>  →  trustworthy, finish 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063240"/>
            <a:ext cx="54864" cy="71323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44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0624"/>
            <a:ext cx="1051560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20B9EC"/>
                </a:solidFill>
                <a:latin typeface="Sofia Pro Medium"/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0515600" cy="17007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1500" b="0" i="0">
                <a:solidFill>
                  <a:srgbClr val="1398C4"/>
                </a:solidFill>
                <a:latin typeface="Consolas"/>
              </a:rPr>
              <a:t>assert ==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is dead for AI —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score, don't match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500" b="1" i="0">
                <a:solidFill>
                  <a:srgbClr val="ED7D31"/>
                </a:solidFill>
                <a:latin typeface="Roboto"/>
              </a:rPr>
              <a:t>Black-box first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for fast, cheap signal;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open the box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when the answer looks right but you don't trust it.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4292F"/>
                </a:solidFill>
                <a:latin typeface="Roboto"/>
              </a:rPr>
              <a:t>Each agent type adds a white-box axis: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tools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memory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→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retrieval grounding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4292F"/>
                </a:solidFill>
                <a:latin typeface="Roboto"/>
              </a:rPr>
              <a:t>Instrumentation is ~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4 lines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; the payoff is every white-box metric.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4292F"/>
                </a:solidFill>
                <a:latin typeface="Roboto"/>
              </a:rPr>
              <a:t>Prefer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deterministic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metrics where possible; lean on the </a:t>
            </a:r>
            <a:r>
              <a:rPr sz="1500" b="1" i="0">
                <a:solidFill>
                  <a:srgbClr val="ED7D31"/>
                </a:solidFill>
                <a:latin typeface="Roboto"/>
              </a:rPr>
              <a:t>judge's reason</a:t>
            </a:r>
            <a:r>
              <a:rPr sz="1500" b="0" i="0">
                <a:solidFill>
                  <a:srgbClr val="24292F"/>
                </a:solidFill>
                <a:latin typeface="Roboto"/>
              </a:rPr>
              <a:t> everywhere else.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13232" y="6254496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13232" y="1234440"/>
            <a:ext cx="10725912" cy="0"/>
          </a:xfrm>
          <a:prstGeom prst="bentConnector3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064240" y="6254496"/>
            <a:ext cx="374904" cy="3749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45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309360"/>
            <a:ext cx="1058594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94560"/>
            <a:ext cx="10360152" cy="2377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 i="0">
                <a:solidFill>
                  <a:srgbClr val="20B9EC"/>
                </a:solidFill>
                <a:latin typeface="Sofia Pro Medium"/>
              </a:rPr>
              <a:t>Thank you</a:t>
            </a:r>
          </a:p>
          <a:p>
            <a:pPr algn="ctr">
              <a:spcAft>
                <a:spcPts val="1000"/>
              </a:spcAft>
            </a:pPr>
            <a:r>
              <a:rPr sz="2000" b="0" i="0">
                <a:solidFill>
                  <a:srgbClr val="6E7781"/>
                </a:solidFill>
                <a:latin typeface="Sofia Pro Medium"/>
              </a:rPr>
              <a:t>Questions?</a:t>
            </a:r>
          </a:p>
          <a:p>
            <a:pPr algn="ctr">
              <a:spcAft>
                <a:spcPts val="1000"/>
              </a:spcAft>
            </a:pPr>
            <a:r>
              <a:rPr sz="1600" b="0" i="0">
                <a:solidFill>
                  <a:srgbClr val="6E7781"/>
                </a:solidFill>
                <a:latin typeface="Roboto"/>
              </a:rPr>
              <a:t>Repo: </a:t>
            </a:r>
            <a:r>
              <a:rPr sz="1600" b="0" i="0">
                <a:solidFill>
                  <a:srgbClr val="1398C4"/>
                </a:solidFill>
                <a:latin typeface="Consolas"/>
              </a:rPr>
              <a:t>deepeval-agent-demo</a:t>
            </a:r>
            <a:r>
              <a:rPr sz="1600" b="0" i="0">
                <a:solidFill>
                  <a:srgbClr val="6E7781"/>
                </a:solidFill>
                <a:latin typeface="Roboto"/>
              </a:rPr>
              <a:t> · Deck: </a:t>
            </a:r>
            <a:r>
              <a:rPr sz="1600" b="0" i="0">
                <a:solidFill>
                  <a:srgbClr val="1398C4"/>
                </a:solidFill>
                <a:latin typeface="Consolas"/>
              </a:rPr>
              <a:t>presentation/deepeval-session.md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tegran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B63CB9CED0684E8D63E2595E69DB62" ma:contentTypeVersion="20" ma:contentTypeDescription="Create a new document." ma:contentTypeScope="" ma:versionID="9c57f8697dc000ae913286f40982f19c">
  <xsd:schema xmlns:xsd="http://www.w3.org/2001/XMLSchema" xmlns:xs="http://www.w3.org/2001/XMLSchema" xmlns:p="http://schemas.microsoft.com/office/2006/metadata/properties" xmlns:ns2="088601a7-6de4-484b-b762-3034eba6fe9a" xmlns:ns3="965c5346-9015-486c-be64-48ce80c91c1b" targetNamespace="http://schemas.microsoft.com/office/2006/metadata/properties" ma:root="true" ma:fieldsID="48152fa565b38fe604e4f0de61327a26" ns2:_="" ns3:_="">
    <xsd:import namespace="088601a7-6de4-484b-b762-3034eba6fe9a"/>
    <xsd:import namespace="965c5346-9015-486c-be64-48ce80c91c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Status" minOccurs="0"/>
                <xsd:element ref="ns2:Status2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8601a7-6de4-484b-b762-3034eba6fe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Status" ma:index="18" nillable="true" ma:displayName="Status" ma:format="Dropdown" ma:internalName="Status">
      <xsd:simpleType>
        <xsd:union memberTypes="dms:Text">
          <xsd:simpleType>
            <xsd:restriction base="dms:Choice">
              <xsd:enumeration value="Confirmed"/>
              <xsd:enumeration value="Declined"/>
              <xsd:enumeration value="Not Sure"/>
            </xsd:restriction>
          </xsd:simpleType>
        </xsd:union>
      </xsd:simpleType>
    </xsd:element>
    <xsd:element name="Status2" ma:index="19" nillable="true" ma:displayName="Status2" ma:default="1" ma:format="Dropdown" ma:internalName="Status2">
      <xsd:simpleType>
        <xsd:restriction base="dms:Boolean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1ed8ed68-f0b6-4efe-988f-e0ccbf7167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5c5346-9015-486c-be64-48ce80c91c1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e006270c-d684-4b9f-9837-fd86c75fe7fe}" ma:internalName="TaxCatchAll" ma:showField="CatchAllData" ma:web="965c5346-9015-486c-be64-48ce80c91c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5c5346-9015-486c-be64-48ce80c91c1b" xsi:nil="true"/>
    <Status xmlns="088601a7-6de4-484b-b762-3034eba6fe9a" xsi:nil="true"/>
    <lcf76f155ced4ddcb4097134ff3c332f xmlns="088601a7-6de4-484b-b762-3034eba6fe9a">
      <Terms xmlns="http://schemas.microsoft.com/office/infopath/2007/PartnerControls"/>
    </lcf76f155ced4ddcb4097134ff3c332f>
    <Status2 xmlns="088601a7-6de4-484b-b762-3034eba6fe9a">true</Status2>
    <SharedWithUsers xmlns="965c5346-9015-486c-be64-48ce80c91c1b">
      <UserInfo>
        <DisplayName>Hager Aly</DisplayName>
        <AccountId>430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580076-3916-4582-A070-624B9E970F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8601a7-6de4-484b-b762-3034eba6fe9a"/>
    <ds:schemaRef ds:uri="965c5346-9015-486c-be64-48ce80c91c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977DEE-CCD0-4937-A44B-C306FF8907E3}">
  <ds:schemaRefs>
    <ds:schemaRef ds:uri="http://schemas.microsoft.com/office/2006/metadata/properties"/>
    <ds:schemaRef ds:uri="http://schemas.microsoft.com/office/infopath/2007/PartnerControls"/>
    <ds:schemaRef ds:uri="965c5346-9015-486c-be64-48ce80c91c1b"/>
    <ds:schemaRef ds:uri="088601a7-6de4-484b-b762-3034eba6fe9a"/>
  </ds:schemaRefs>
</ds:datastoreItem>
</file>

<file path=customXml/itemProps3.xml><?xml version="1.0" encoding="utf-8"?>
<ds:datastoreItem xmlns:ds="http://schemas.openxmlformats.org/officeDocument/2006/customXml" ds:itemID="{8EFAA6DA-DB70-4DEB-9BBC-3995E59D43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11781</TotalTime>
  <Words>3782</Words>
  <Application>Microsoft Macintosh PowerPoint</Application>
  <PresentationFormat>Widescreen</PresentationFormat>
  <Paragraphs>467</Paragraphs>
  <Slides>45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Calibri</vt:lpstr>
      <vt:lpstr>Calibri Light</vt:lpstr>
      <vt:lpstr>Consolas</vt:lpstr>
      <vt:lpstr>Roboto</vt:lpstr>
      <vt:lpstr>Roboto Light</vt:lpstr>
      <vt:lpstr>Sofia Pro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Mostafa Salah</dc:creator>
  <cp:lastModifiedBy>Mohamed Sherif</cp:lastModifiedBy>
  <cp:revision>197</cp:revision>
  <dcterms:created xsi:type="dcterms:W3CDTF">2016-10-24T09:09:49Z</dcterms:created>
  <dcterms:modified xsi:type="dcterms:W3CDTF">2026-10-01T15:08:11Z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0x010100AEB63CB9CED0684E8D63E2595E69DB62</vt:lpwstr>
  </property>
  <property fmtid="{D5CDD505-2E9C-101B-9397-08002B2CF9AE}" pid="3" name="MediaServiceImageTags">
    <vt:lpwstr/>
  </property>
</Properties>
</file>